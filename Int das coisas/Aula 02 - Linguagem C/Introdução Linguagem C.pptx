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303" r:id="rId4"/>
    <p:sldId id="280" r:id="rId5"/>
    <p:sldId id="283" r:id="rId6"/>
    <p:sldId id="295" r:id="rId7"/>
    <p:sldId id="285" r:id="rId8"/>
    <p:sldId id="290" r:id="rId9"/>
    <p:sldId id="291" r:id="rId10"/>
    <p:sldId id="292" r:id="rId11"/>
    <p:sldId id="293" r:id="rId12"/>
    <p:sldId id="294" r:id="rId13"/>
    <p:sldId id="287" r:id="rId14"/>
    <p:sldId id="288" r:id="rId15"/>
    <p:sldId id="296" r:id="rId16"/>
    <p:sldId id="297" r:id="rId17"/>
    <p:sldId id="298" r:id="rId18"/>
    <p:sldId id="289" r:id="rId19"/>
    <p:sldId id="299" r:id="rId20"/>
    <p:sldId id="300" r:id="rId21"/>
    <p:sldId id="304" r:id="rId22"/>
    <p:sldId id="302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1616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53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2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66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53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26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30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70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85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19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1AA80-AA48-4AC1-BF1F-5043E12B8185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45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Introdução Linguagem de Programa “C”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Baseado em https://</a:t>
            </a:r>
            <a:r>
              <a:rPr lang="pt-BR" dirty="0" smtClean="0"/>
              <a:t>www.w3schools.com/c</a:t>
            </a:r>
          </a:p>
        </p:txBody>
      </p:sp>
    </p:spTree>
    <p:extLst>
      <p:ext uri="{BB962C8B-B14F-4D97-AF65-F5344CB8AC3E}">
        <p14:creationId xmlns:p14="http://schemas.microsoft.com/office/powerpoint/2010/main" val="428802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 é uma linguagem de programação de propósito geral, criada por Dennis Ritchie (Laboratórios Bell), em 1972</a:t>
            </a:r>
          </a:p>
          <a:p>
            <a:r>
              <a:rPr lang="pt-BR" dirty="0" smtClean="0"/>
              <a:t>C++ desenvolvido em 1980 por </a:t>
            </a:r>
            <a:r>
              <a:rPr lang="pt-BR" dirty="0" err="1"/>
              <a:t>Bjarne</a:t>
            </a:r>
            <a:r>
              <a:rPr lang="pt-BR" dirty="0"/>
              <a:t> </a:t>
            </a:r>
            <a:r>
              <a:rPr lang="pt-BR" dirty="0" err="1" smtClean="0"/>
              <a:t>Stroustrup</a:t>
            </a:r>
            <a:r>
              <a:rPr lang="pt-BR" dirty="0" smtClean="0"/>
              <a:t> (Lab. Bell)</a:t>
            </a:r>
          </a:p>
          <a:p>
            <a:r>
              <a:rPr lang="pt-BR" dirty="0" smtClean="0"/>
              <a:t>Diferenças entre C e C++</a:t>
            </a:r>
          </a:p>
          <a:p>
            <a:r>
              <a:rPr lang="pt-BR" dirty="0" smtClean="0"/>
              <a:t>Sugestão de ambiente de desenvolvimento: VS </a:t>
            </a:r>
            <a:r>
              <a:rPr lang="pt-BR" dirty="0" err="1" smtClean="0"/>
              <a:t>Code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13641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5" t="5566" r="10702" b="11252"/>
          <a:stretch/>
        </p:blipFill>
        <p:spPr>
          <a:xfrm>
            <a:off x="1527087" y="3733015"/>
            <a:ext cx="2526384" cy="2969443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65" y="98330"/>
            <a:ext cx="4257239" cy="3192929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7" t="17649" r="23175"/>
          <a:stretch/>
        </p:blipFill>
        <p:spPr>
          <a:xfrm>
            <a:off x="5986021" y="98330"/>
            <a:ext cx="6074004" cy="6438315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390065" y="3291259"/>
            <a:ext cx="4341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Foto e livro: cortesia de Marcio Fialho (INPE)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550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“</a:t>
            </a:r>
            <a:r>
              <a:rPr lang="pt-BR" dirty="0" err="1" smtClean="0"/>
              <a:t>Hello</a:t>
            </a:r>
            <a:r>
              <a:rPr lang="pt-BR" dirty="0" smtClean="0"/>
              <a:t> World”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cxnSp>
        <p:nvCxnSpPr>
          <p:cNvPr id="6" name="Conector de Seta Reta 5"/>
          <p:cNvCxnSpPr/>
          <p:nvPr/>
        </p:nvCxnSpPr>
        <p:spPr>
          <a:xfrm>
            <a:off x="6040074" y="2189527"/>
            <a:ext cx="9395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6979641" y="2004861"/>
            <a:ext cx="2718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Importação de bibliotecas</a:t>
            </a:r>
            <a:endParaRPr lang="pt-BR" dirty="0"/>
          </a:p>
        </p:txBody>
      </p:sp>
      <p:cxnSp>
        <p:nvCxnSpPr>
          <p:cNvPr id="8" name="Conector de Seta Reta 7"/>
          <p:cNvCxnSpPr/>
          <p:nvPr/>
        </p:nvCxnSpPr>
        <p:spPr>
          <a:xfrm>
            <a:off x="6040073" y="3256328"/>
            <a:ext cx="9395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6979641" y="3063353"/>
            <a:ext cx="4815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Função principal ponto de entrada do programa</a:t>
            </a:r>
            <a:endParaRPr lang="pt-BR" dirty="0"/>
          </a:p>
        </p:txBody>
      </p:sp>
      <p:cxnSp>
        <p:nvCxnSpPr>
          <p:cNvPr id="10" name="Conector de Seta Reta 9"/>
          <p:cNvCxnSpPr/>
          <p:nvPr/>
        </p:nvCxnSpPr>
        <p:spPr>
          <a:xfrm>
            <a:off x="6040073" y="3836566"/>
            <a:ext cx="9395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6979640" y="3659108"/>
            <a:ext cx="4815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Cada instrução deve terminar com “;”</a:t>
            </a:r>
            <a:endParaRPr lang="pt-BR" dirty="0"/>
          </a:p>
        </p:txBody>
      </p:sp>
      <p:cxnSp>
        <p:nvCxnSpPr>
          <p:cNvPr id="12" name="Conector de Seta Reta 11"/>
          <p:cNvCxnSpPr/>
          <p:nvPr/>
        </p:nvCxnSpPr>
        <p:spPr>
          <a:xfrm>
            <a:off x="6047064" y="4131579"/>
            <a:ext cx="9395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6986631" y="3946913"/>
            <a:ext cx="4815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Retorno da função do tipo inteiro</a:t>
            </a:r>
            <a:endParaRPr lang="pt-BR" dirty="0"/>
          </a:p>
        </p:txBody>
      </p:sp>
      <p:cxnSp>
        <p:nvCxnSpPr>
          <p:cNvPr id="14" name="Conector de Seta Reta 13"/>
          <p:cNvCxnSpPr/>
          <p:nvPr/>
        </p:nvCxnSpPr>
        <p:spPr>
          <a:xfrm>
            <a:off x="6047064" y="4502093"/>
            <a:ext cx="9395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6986631" y="4324554"/>
            <a:ext cx="4815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O escopo de trechos de código é delimitado chaves</a:t>
            </a:r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243631" y="1999855"/>
            <a:ext cx="5735273" cy="31393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C586C0"/>
                </a:solidFill>
                <a:latin typeface="Consolas" panose="020B0609020204030204" pitchFamily="49" charset="0"/>
              </a:rPr>
              <a:t>#include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stdio.h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/* função principal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   retorna um número inteiro com sinal */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// imprime na tela a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"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Hello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World!"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Hello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 World!"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 err="1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Conector de Seta Reta 16"/>
          <p:cNvCxnSpPr/>
          <p:nvPr/>
        </p:nvCxnSpPr>
        <p:spPr>
          <a:xfrm>
            <a:off x="6058249" y="3542952"/>
            <a:ext cx="9395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6997817" y="3349977"/>
            <a:ext cx="4815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Comentário de uma linha</a:t>
            </a:r>
            <a:endParaRPr lang="pt-BR" dirty="0"/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059646" y="2754387"/>
            <a:ext cx="9395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979640" y="2570100"/>
            <a:ext cx="4815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Comentário de várias linhas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536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Variáveis e Tipos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Precisam ser declaradas e inicializadas antes do uso.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err="1" smtClean="0"/>
              <a:t>Strings</a:t>
            </a:r>
            <a:r>
              <a:rPr lang="pt-BR" dirty="0" smtClean="0"/>
              <a:t>:</a:t>
            </a:r>
          </a:p>
          <a:p>
            <a:pPr lvl="1"/>
            <a:r>
              <a:rPr lang="pt-BR" dirty="0" smtClean="0"/>
              <a:t>Matriz de caracteres </a:t>
            </a:r>
            <a:r>
              <a:rPr lang="pt-BR" dirty="0" smtClean="0">
                <a:sym typeface="Wingdings" panose="05000000000000000000" pitchFamily="2" charset="2"/>
              </a:rPr>
              <a:t> char </a:t>
            </a:r>
            <a:r>
              <a:rPr lang="pt-BR" dirty="0" err="1" smtClean="0">
                <a:sym typeface="Wingdings" panose="05000000000000000000" pitchFamily="2" charset="2"/>
              </a:rPr>
              <a:t>myText</a:t>
            </a:r>
            <a:r>
              <a:rPr lang="pt-BR" dirty="0" smtClean="0">
                <a:sym typeface="Wingdings" panose="05000000000000000000" pitchFamily="2" charset="2"/>
              </a:rPr>
              <a:t>[] = “</a:t>
            </a:r>
            <a:r>
              <a:rPr lang="pt-BR" dirty="0" err="1" smtClean="0">
                <a:sym typeface="Wingdings" panose="05000000000000000000" pitchFamily="2" charset="2"/>
              </a:rPr>
              <a:t>Hello</a:t>
            </a:r>
            <a:r>
              <a:rPr lang="pt-BR" dirty="0" smtClean="0">
                <a:sym typeface="Wingdings" panose="05000000000000000000" pitchFamily="2" charset="2"/>
              </a:rPr>
              <a:t>”;</a:t>
            </a:r>
          </a:p>
          <a:p>
            <a:pPr lvl="1"/>
            <a:r>
              <a:rPr lang="pt-BR" dirty="0" smtClean="0">
                <a:sym typeface="Wingdings" panose="05000000000000000000" pitchFamily="2" charset="2"/>
              </a:rPr>
              <a:t>Bibliotecas  </a:t>
            </a:r>
            <a:r>
              <a:rPr lang="pt-BR" dirty="0" err="1" smtClean="0">
                <a:sym typeface="Wingdings" panose="05000000000000000000" pitchFamily="2" charset="2"/>
              </a:rPr>
              <a:t>std</a:t>
            </a:r>
            <a:r>
              <a:rPr lang="pt-BR" dirty="0" smtClean="0">
                <a:sym typeface="Wingdings" panose="05000000000000000000" pitchFamily="2" charset="2"/>
              </a:rPr>
              <a:t>::</a:t>
            </a:r>
            <a:r>
              <a:rPr lang="pt-BR" dirty="0" err="1" smtClean="0">
                <a:sym typeface="Wingdings" panose="05000000000000000000" pitchFamily="2" charset="2"/>
              </a:rPr>
              <a:t>string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4130880" y="2332083"/>
            <a:ext cx="3477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type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pt-B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variableName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pt-B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value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50" y="3007722"/>
            <a:ext cx="10926700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4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Formatação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30" y="2123893"/>
            <a:ext cx="9240540" cy="2610214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3048000" y="4761990"/>
            <a:ext cx="6096000" cy="2031325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pt-BR" sz="1400" dirty="0">
                <a:solidFill>
                  <a:srgbClr val="C586C0"/>
                </a:solidFill>
                <a:latin typeface="Consolas" panose="020B0609020204030204" pitchFamily="49" charset="0"/>
              </a:rPr>
              <a:t>#include</a:t>
            </a:r>
            <a:r>
              <a:rPr lang="pt-BR" sz="1400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CE9178"/>
                </a:solidFill>
                <a:latin typeface="Consolas" panose="020B0609020204030204" pitchFamily="49" charset="0"/>
              </a:rPr>
              <a:t>&lt;</a:t>
            </a:r>
            <a:r>
              <a:rPr lang="pt-BR" sz="1400" dirty="0" err="1">
                <a:solidFill>
                  <a:srgbClr val="CE9178"/>
                </a:solidFill>
                <a:latin typeface="Consolas" panose="020B0609020204030204" pitchFamily="49" charset="0"/>
              </a:rPr>
              <a:t>stdio.h</a:t>
            </a:r>
            <a:r>
              <a:rPr lang="pt-BR" sz="1400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endParaRPr lang="pt-B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myNum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r>
              <a:rPr lang="pt-BR" sz="1400" dirty="0">
                <a:solidFill>
                  <a:srgbClr val="6A9955"/>
                </a:solidFill>
                <a:latin typeface="Consolas" panose="020B0609020204030204" pitchFamily="49" charset="0"/>
              </a:rPr>
              <a:t>  // </a:t>
            </a:r>
            <a:r>
              <a:rPr lang="pt-BR" sz="1400" dirty="0" err="1">
                <a:solidFill>
                  <a:srgbClr val="6A9955"/>
                </a:solidFill>
                <a:latin typeface="Consolas" panose="020B0609020204030204" pitchFamily="49" charset="0"/>
              </a:rPr>
              <a:t>integer</a:t>
            </a:r>
            <a:endParaRPr lang="pt-B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pt-BR" sz="1400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myNum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9CDCFE"/>
                </a:solidFill>
                <a:latin typeface="Consolas" panose="020B0609020204030204" pitchFamily="49" charset="0"/>
              </a:rPr>
              <a:t>%i</a:t>
            </a:r>
            <a:r>
              <a:rPr lang="pt-BR" sz="1400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myNum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sz="1400" dirty="0" err="1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525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aritméticos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22" y="1952792"/>
            <a:ext cx="10466386" cy="409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5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de atribuição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108" y="1618938"/>
            <a:ext cx="8402223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de comparação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1825625"/>
            <a:ext cx="9669224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1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lógicos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30" y="2566867"/>
            <a:ext cx="9240540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7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binários (</a:t>
            </a:r>
            <a:r>
              <a:rPr lang="pt-BR" dirty="0" err="1" smtClean="0"/>
              <a:t>bitwise</a:t>
            </a:r>
            <a:r>
              <a:rPr lang="pt-BR" dirty="0" smtClean="0"/>
              <a:t> </a:t>
            </a:r>
            <a:r>
              <a:rPr lang="pt-BR" dirty="0" err="1" smtClean="0"/>
              <a:t>operators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&amp; </a:t>
            </a:r>
            <a:r>
              <a:rPr lang="pt-BR" dirty="0" smtClean="0">
                <a:sym typeface="Wingdings" panose="05000000000000000000" pitchFamily="2" charset="2"/>
              </a:rPr>
              <a:t> AND</a:t>
            </a:r>
          </a:p>
          <a:p>
            <a:pPr marL="0" indent="0">
              <a:buNone/>
            </a:pPr>
            <a:r>
              <a:rPr lang="pt-BR" dirty="0" smtClean="0">
                <a:sym typeface="Wingdings" panose="05000000000000000000" pitchFamily="2" charset="2"/>
              </a:rPr>
              <a:t>|  OR</a:t>
            </a:r>
          </a:p>
          <a:p>
            <a:pPr marL="0" indent="0">
              <a:buNone/>
            </a:pPr>
            <a:r>
              <a:rPr lang="pt-BR" dirty="0" smtClean="0">
                <a:sym typeface="Wingdings" panose="05000000000000000000" pitchFamily="2" charset="2"/>
              </a:rPr>
              <a:t>^  XOR</a:t>
            </a:r>
          </a:p>
          <a:p>
            <a:pPr marL="0" indent="0">
              <a:buNone/>
            </a:pPr>
            <a:r>
              <a:rPr lang="pt-BR" dirty="0" smtClean="0">
                <a:sym typeface="Wingdings" panose="05000000000000000000" pitchFamily="2" charset="2"/>
              </a:rPr>
              <a:t>~  NOT</a:t>
            </a:r>
          </a:p>
          <a:p>
            <a:pPr marL="0" indent="0">
              <a:buNone/>
            </a:pPr>
            <a:r>
              <a:rPr lang="pt-BR" dirty="0" smtClean="0">
                <a:sym typeface="Wingdings" panose="05000000000000000000" pitchFamily="2" charset="2"/>
              </a:rPr>
              <a:t>&lt;&lt;  deslocamento à esquerda</a:t>
            </a:r>
          </a:p>
          <a:p>
            <a:pPr marL="0" indent="0">
              <a:buNone/>
            </a:pPr>
            <a:r>
              <a:rPr lang="pt-BR" dirty="0" smtClean="0">
                <a:sym typeface="Wingdings" panose="05000000000000000000" pitchFamily="2" charset="2"/>
              </a:rPr>
              <a:t>&gt;&gt; </a:t>
            </a:r>
            <a:r>
              <a:rPr lang="pt-BR" dirty="0">
                <a:sym typeface="Wingdings" panose="05000000000000000000" pitchFamily="2" charset="2"/>
              </a:rPr>
              <a:t> deslocamento à </a:t>
            </a:r>
            <a:r>
              <a:rPr lang="pt-BR" dirty="0" smtClean="0">
                <a:sym typeface="Wingdings" panose="05000000000000000000" pitchFamily="2" charset="2"/>
              </a:rPr>
              <a:t>direita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545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 booleano (C99)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829886" y="249343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bool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isProgrammingFun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bool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isFishTasty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778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Estruturas </a:t>
            </a:r>
            <a:r>
              <a:rPr lang="pt-BR" dirty="0" err="1" smtClean="0"/>
              <a:t>if</a:t>
            </a:r>
            <a:r>
              <a:rPr lang="pt-BR" dirty="0" smtClean="0"/>
              <a:t>...</a:t>
            </a:r>
            <a:r>
              <a:rPr lang="pt-BR" dirty="0" err="1" smtClean="0"/>
              <a:t>else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Retângulo 4"/>
          <p:cNvSpPr/>
          <p:nvPr/>
        </p:nvSpPr>
        <p:spPr>
          <a:xfrm>
            <a:off x="2267823" y="2748735"/>
            <a:ext cx="7782187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time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22</a:t>
            </a:r>
            <a:r>
              <a:rPr lang="en-US" dirty="0" smtClean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(time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"Good morning."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(time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"Good day."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"Good evening."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Outputs "Good evening."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05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Estruturas </a:t>
            </a:r>
            <a:r>
              <a:rPr lang="pt-BR" dirty="0" err="1" smtClean="0"/>
              <a:t>while</a:t>
            </a:r>
            <a:r>
              <a:rPr lang="pt-BR" dirty="0" smtClean="0"/>
              <a:t> e for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Retângulo 3"/>
          <p:cNvSpPr/>
          <p:nvPr/>
        </p:nvSpPr>
        <p:spPr>
          <a:xfrm>
            <a:off x="838200" y="2216277"/>
            <a:ext cx="2950128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nn-NO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nn-NO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nn-NO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nn-NO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 (i </a:t>
            </a:r>
            <a:r>
              <a:rPr lang="nn-NO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nn-NO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nn-NO" dirty="0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nn-NO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nn-NO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nn-NO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nn-NO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, i);</a:t>
            </a:r>
          </a:p>
          <a:p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  i</a:t>
            </a:r>
            <a:r>
              <a:rPr lang="nn-NO" dirty="0">
                <a:solidFill>
                  <a:srgbClr val="D4D4D4"/>
                </a:solidFill>
                <a:latin typeface="Consolas" panose="020B0609020204030204" pitchFamily="49" charset="0"/>
              </a:rPr>
              <a:t>++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nn-N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838200" y="4426696"/>
            <a:ext cx="2740404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C586C0"/>
                </a:solidFill>
                <a:latin typeface="Consolas" panose="020B0609020204030204" pitchFamily="49" charset="0"/>
              </a:rPr>
              <a:t>do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pt-BR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i);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i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++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 err="1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(i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5338194" y="2216277"/>
            <a:ext cx="3478635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nn-NO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nn-NO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 (i </a:t>
            </a:r>
            <a:r>
              <a:rPr lang="nn-NO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nn-NO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; i </a:t>
            </a:r>
            <a:r>
              <a:rPr lang="nn-NO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nn-NO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; i</a:t>
            </a:r>
            <a:r>
              <a:rPr lang="nn-NO" dirty="0">
                <a:solidFill>
                  <a:srgbClr val="D4D4D4"/>
                </a:solidFill>
                <a:latin typeface="Consolas" panose="020B0609020204030204" pitchFamily="49" charset="0"/>
              </a:rPr>
              <a:t>++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nn-NO" dirty="0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nn-NO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nn-NO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nn-NO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nn-NO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, i);</a:t>
            </a:r>
          </a:p>
          <a:p>
            <a:r>
              <a:rPr lang="nn-NO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nn-N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5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Arrays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Retângulo 6"/>
          <p:cNvSpPr/>
          <p:nvPr/>
        </p:nvSpPr>
        <p:spPr>
          <a:xfrm>
            <a:off x="838200" y="1825625"/>
            <a:ext cx="4799202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[]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25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75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Now outputs 33 instead of 25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++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US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6096000" y="1964124"/>
            <a:ext cx="6096000" cy="2308324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Declare an array of four integers: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Add elements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25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75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6185482" y="5404418"/>
            <a:ext cx="6096000" cy="646331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[]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25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75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zu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));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// Prints 20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92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 de memória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Endereço</a:t>
            </a:r>
            <a:r>
              <a:rPr lang="en-US" dirty="0" smtClean="0"/>
              <a:t> da </a:t>
            </a:r>
            <a:r>
              <a:rPr lang="en-US" dirty="0" err="1" smtClean="0"/>
              <a:t>memória</a:t>
            </a:r>
            <a:r>
              <a:rPr lang="en-US" dirty="0" smtClean="0"/>
              <a:t> </a:t>
            </a:r>
            <a:r>
              <a:rPr lang="en-US" dirty="0" err="1" smtClean="0"/>
              <a:t>alocada</a:t>
            </a:r>
            <a:r>
              <a:rPr lang="en-US" dirty="0" smtClean="0"/>
              <a:t> para a </a:t>
            </a:r>
            <a:r>
              <a:rPr lang="en-US" dirty="0" err="1" smtClean="0"/>
              <a:t>variável</a:t>
            </a:r>
            <a:r>
              <a:rPr lang="en-US" dirty="0" smtClean="0"/>
              <a:t> (</a:t>
            </a:r>
            <a:r>
              <a:rPr lang="en-US" dirty="0" err="1" smtClean="0"/>
              <a:t>operador</a:t>
            </a:r>
            <a:r>
              <a:rPr lang="en-US" dirty="0" smtClean="0"/>
              <a:t> “&amp;”)</a:t>
            </a:r>
            <a:endParaRPr lang="en-US" dirty="0"/>
          </a:p>
        </p:txBody>
      </p:sp>
      <p:sp>
        <p:nvSpPr>
          <p:cNvPr id="5" name="Retângulo 4"/>
          <p:cNvSpPr/>
          <p:nvPr/>
        </p:nvSpPr>
        <p:spPr>
          <a:xfrm>
            <a:off x="2838275" y="2585393"/>
            <a:ext cx="6096000" cy="1754326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// an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variable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 // Outputs the value of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(43)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%p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// Outputs the memory address of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(0x7ffe5367e044)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73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 de memória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674623"/>
            <a:ext cx="10515600" cy="484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 smtClean="0"/>
              <a:t>Ponteiros</a:t>
            </a:r>
            <a:r>
              <a:rPr lang="en-US" dirty="0" smtClean="0"/>
              <a:t>: </a:t>
            </a:r>
            <a:r>
              <a:rPr lang="en-US" dirty="0" err="1" smtClean="0"/>
              <a:t>Variáveis</a:t>
            </a:r>
            <a:r>
              <a:rPr lang="en-US" dirty="0" smtClean="0"/>
              <a:t> que </a:t>
            </a:r>
            <a:r>
              <a:rPr lang="en-US" dirty="0" err="1" smtClean="0"/>
              <a:t>armazenam</a:t>
            </a:r>
            <a:r>
              <a:rPr lang="en-US" dirty="0" smtClean="0"/>
              <a:t> o </a:t>
            </a:r>
            <a:r>
              <a:rPr lang="en-US" dirty="0" err="1" smtClean="0"/>
              <a:t>endereço</a:t>
            </a:r>
            <a:r>
              <a:rPr lang="en-US" dirty="0" smtClean="0"/>
              <a:t> de </a:t>
            </a:r>
            <a:r>
              <a:rPr lang="en-US" dirty="0" err="1" smtClean="0"/>
              <a:t>memória</a:t>
            </a:r>
            <a:r>
              <a:rPr lang="en-US" dirty="0" smtClean="0"/>
              <a:t> de </a:t>
            </a:r>
            <a:r>
              <a:rPr lang="en-US" dirty="0" err="1" smtClean="0"/>
              <a:t>outra</a:t>
            </a:r>
            <a:r>
              <a:rPr lang="en-US" dirty="0" smtClean="0"/>
              <a:t> </a:t>
            </a:r>
            <a:r>
              <a:rPr lang="en-US" dirty="0" err="1" smtClean="0"/>
              <a:t>variável</a:t>
            </a:r>
            <a:endParaRPr lang="en-US" dirty="0"/>
          </a:p>
        </p:txBody>
      </p:sp>
      <p:sp>
        <p:nvSpPr>
          <p:cNvPr id="4" name="Retângulo 3"/>
          <p:cNvSpPr/>
          <p:nvPr/>
        </p:nvSpPr>
        <p:spPr>
          <a:xfrm>
            <a:off x="612397" y="2524353"/>
            <a:ext cx="11828476" cy="42473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    // An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variable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 // A pointer variable, with the name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, that stores the address of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myAge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Output the value of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(43)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US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Output the memory address of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(0x7ffe5367e044)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%p</a:t>
            </a:r>
            <a:r>
              <a:rPr lang="en-US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Output the memory address of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with the pointer (0x7ffe5367e044)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%p</a:t>
            </a:r>
            <a:r>
              <a:rPr lang="en-US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Dereference: Output the value of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with the pointer (43)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US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99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tângulo 5"/>
          <p:cNvSpPr/>
          <p:nvPr/>
        </p:nvSpPr>
        <p:spPr>
          <a:xfrm>
            <a:off x="2636939" y="1695086"/>
            <a:ext cx="7597630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[]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"Hello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%s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. You are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 years old.</a:t>
            </a:r>
            <a:r>
              <a:rPr lang="en-US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"Liam"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"Jenny"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14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Anja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Hello Liam. You are 3 years old.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Hello Jenny. You are 14 years old.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Hello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Anja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. You are 30 years old.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740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tângulo 3"/>
          <p:cNvSpPr/>
          <p:nvPr/>
        </p:nvSpPr>
        <p:spPr>
          <a:xfrm>
            <a:off x="3048000" y="2058212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 </a:t>
            </a:r>
            <a:r>
              <a:rPr lang="en-US" b="1" dirty="0">
                <a:solidFill>
                  <a:srgbClr val="708090"/>
                </a:solidFill>
                <a:latin typeface="Consolas" panose="020B0609020204030204" pitchFamily="49" charset="0"/>
              </a:rPr>
              <a:t>Function declaration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The main method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  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 </a:t>
            </a:r>
            <a:r>
              <a:rPr lang="en-US" b="1" dirty="0">
                <a:solidFill>
                  <a:srgbClr val="708090"/>
                </a:solidFill>
                <a:latin typeface="Consolas" panose="020B0609020204030204" pitchFamily="49" charset="0"/>
              </a:rPr>
              <a:t>call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 the function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 </a:t>
            </a:r>
            <a:r>
              <a:rPr lang="en-US" b="1" dirty="0">
                <a:solidFill>
                  <a:srgbClr val="708090"/>
                </a:solidFill>
                <a:latin typeface="Consolas" panose="020B0609020204030204" pitchFamily="49" charset="0"/>
              </a:rPr>
              <a:t>Function definition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"I just got executed!"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850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Estruturas de dados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tângulo 4"/>
          <p:cNvSpPr/>
          <p:nvPr/>
        </p:nvSpPr>
        <p:spPr>
          <a:xfrm>
            <a:off x="1872143" y="1225689"/>
            <a:ext cx="8447713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Create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a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structure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called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myStructure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myStructure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myNum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myLetter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Create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a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structure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variable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of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myStructure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called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s1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myStructure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s1;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Assign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values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to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members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of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s1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s1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myNum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13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s1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myLetter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'B'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// Print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values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My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number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pt-BR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s1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myNum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My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letter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%c</a:t>
            </a:r>
            <a:r>
              <a:rPr lang="pt-BR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s1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myLetter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 err="1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54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Função para cálculo de raiz quadrada:</a:t>
            </a:r>
          </a:p>
          <a:p>
            <a:pPr lvl="1"/>
            <a:r>
              <a:rPr lang="pt-BR" dirty="0" smtClean="0"/>
              <a:t>Biblioteca </a:t>
            </a:r>
            <a:r>
              <a:rPr lang="pt-BR" dirty="0" err="1" smtClean="0"/>
              <a:t>math.h</a:t>
            </a:r>
            <a:endParaRPr lang="pt-BR" dirty="0" smtClean="0"/>
          </a:p>
          <a:p>
            <a:pPr lvl="1"/>
            <a:r>
              <a:rPr lang="pt-BR" dirty="0" smtClean="0"/>
              <a:t>Função “</a:t>
            </a:r>
            <a:r>
              <a:rPr lang="pt-BR" dirty="0" err="1" smtClean="0"/>
              <a:t>sqrt</a:t>
            </a:r>
            <a:r>
              <a:rPr lang="pt-BR" dirty="0" smtClean="0"/>
              <a:t>()”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713" y="1944972"/>
            <a:ext cx="10066573" cy="205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978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https://www.w3schools.com/c</a:t>
            </a:r>
          </a:p>
          <a:p>
            <a:r>
              <a:rPr lang="pt-BR" dirty="0" smtClean="0"/>
              <a:t>https</a:t>
            </a:r>
            <a:r>
              <a:rPr lang="pt-BR" dirty="0"/>
              <a:t>://www.ime.usp.br/~slago/slago-C.pdf</a:t>
            </a:r>
          </a:p>
        </p:txBody>
      </p:sp>
    </p:spTree>
    <p:extLst>
      <p:ext uri="{BB962C8B-B14F-4D97-AF65-F5344CB8AC3E}">
        <p14:creationId xmlns:p14="http://schemas.microsoft.com/office/powerpoint/2010/main" val="29439434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3310</TotalTime>
  <Words>381</Words>
  <Application>Microsoft Office PowerPoint</Application>
  <PresentationFormat>Widescreen</PresentationFormat>
  <Paragraphs>172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Wingdings</vt:lpstr>
      <vt:lpstr>Tema do Office</vt:lpstr>
      <vt:lpstr>Introdução Linguagem de Programa “C”</vt:lpstr>
      <vt:lpstr>Introdução</vt:lpstr>
      <vt:lpstr>Apresentação do PowerPoint</vt:lpstr>
      <vt:lpstr>“Hello World”</vt:lpstr>
      <vt:lpstr>Variáveis e Tipos de dados</vt:lpstr>
      <vt:lpstr>Formatação de dados</vt:lpstr>
      <vt:lpstr>Operadores aritméticos</vt:lpstr>
      <vt:lpstr>Operadores de atribuição</vt:lpstr>
      <vt:lpstr>Operadores de comparação</vt:lpstr>
      <vt:lpstr>Operadores lógicos</vt:lpstr>
      <vt:lpstr>Operadores binários (bitwise operators)</vt:lpstr>
      <vt:lpstr>Tipo booleano (C99)</vt:lpstr>
      <vt:lpstr>Estruturas if...else</vt:lpstr>
      <vt:lpstr>Estruturas while e for</vt:lpstr>
      <vt:lpstr>Arrays</vt:lpstr>
      <vt:lpstr>Referências de memória</vt:lpstr>
      <vt:lpstr>Referências de memória</vt:lpstr>
      <vt:lpstr>Funções</vt:lpstr>
      <vt:lpstr>Funções</vt:lpstr>
      <vt:lpstr>Estruturas de dados</vt:lpstr>
      <vt:lpstr>Exercício</vt:lpstr>
      <vt:lpstr>Referências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Usuario</cp:lastModifiedBy>
  <cp:revision>85</cp:revision>
  <dcterms:created xsi:type="dcterms:W3CDTF">2025-05-19T21:00:10Z</dcterms:created>
  <dcterms:modified xsi:type="dcterms:W3CDTF">2026-02-11T00:04:31Z</dcterms:modified>
</cp:coreProperties>
</file>